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 EXPERTS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ERE Solar Bot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pipeline commercial qui transforme la réglementation solaire française en leads B2B qualifiés.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31520" cy="36576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confidentielle · Destinée aux installateurs solaires RGE QualiPV · Avril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ere-experts.fr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meilleurs installateurs solaires français perdent du temps à chasser les mauvais prospects.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35204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Ciblage à l'aveugle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5262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fichiers loués, LinkedIn Sales Navigator et la prospection téléphonique brûlent 80 % du temps commercial sur des prospects non éligibles aux obligations.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3108960"/>
            <a:ext cx="35204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754880" y="3977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Décideur introuvable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45262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bâtiments tertiaires sont détenus par des SCI ou des foncières. Vos commerciaux contactent des gardiens, pas des décideurs budget.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3108960"/>
            <a:ext cx="35204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503920" y="3977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Propositions génériques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0" y="45262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commercial standard sans visualisation du projet sur le bâtiment réel. Taux d'ouverture email &lt; 20 %, taux de réponse &lt; 2 %.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 Experts · ERE Solar Bot · 2026 confidentiel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L'OPPORTUNITÉ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France a légiféré. Le marché est créé. Il faut savoir le cueillir.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5029200" cy="3657600"/>
          </a:xfrm>
          <a:prstGeom prst="rect">
            <a:avLst/>
          </a:prstGeom>
          <a:solidFill>
            <a:srgbClr val="1A2E3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8346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350 000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60120" y="40233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bâtiments tertiaires français concernés par les obligations de solarisation (loi APER + décret tertiaire).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5212080"/>
            <a:ext cx="548640" cy="36576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estimation ERE Experts à partir BDNB (CSTB) 2025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2651760"/>
            <a:ext cx="73152" cy="77724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2651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Loi APER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72200" y="2971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Solarisation obligatoire parkings &gt; 1500 m² et toitures &gt; 500 m² (tertiaire, commerces, entrepôts).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566160"/>
            <a:ext cx="73152" cy="77724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Décret tertiaire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0" y="3886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-40 % consommation énergétique d'ici 2030. Reporting OPERAT annuel au 28 septembre.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4480560"/>
            <a:ext cx="73152" cy="77724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Suramortissement 39 decies 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4800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 déductible sur équipements de décarbonation jusqu'en 2027.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5394960"/>
            <a:ext cx="73152" cy="77724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5394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MaPrimeRénov' + CEE + Prime autoconso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72200" y="5715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30 % du coût d'installation couvert par les aides cumulées.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 Experts · ERE Solar Bot · 2026 confidentiel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pipeline automatisé qui livre des rendez-vous qualifiés en marque blanche.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3520440" cy="548640"/>
          </a:xfrm>
          <a:prstGeom prst="rect">
            <a:avLst/>
          </a:prstGeom>
          <a:solidFill>
            <a:srgbClr val="1A2E3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5420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Entrées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35204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24612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 IGN + BDNB du CSTB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Solar API (layout réel)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Pappers + registre bénéficiaires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Dropcontact (conforme RGPD)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468880"/>
            <a:ext cx="3520440" cy="54864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5420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Traitement IA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80560" y="3017520"/>
            <a:ext cx="35204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24612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éligibilité APER + tertiaire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potentiel kWc + économies 20 ans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vrai décideur (pas la SCI)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vidéo drone Veo 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2468880"/>
            <a:ext cx="3520440" cy="548640"/>
          </a:xfrm>
          <a:prstGeom prst="rect">
            <a:avLst/>
          </a:prstGeom>
          <a:solidFill>
            <a:srgbClr val="1A2E3B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5420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0" y="3017520"/>
            <a:ext cx="35204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324612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Micro-site personnalisé par prospect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 email + LinkedIn + SMS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à rebours OPERAT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RDV réservés dans votre agenda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6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Zéro intervention manuelle. Zéro prospect non qualifié. 100 % conforme RGPD.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 Experts · ERE Solar Bot · 2026 confidentiel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EN 8 ÉTAPES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parcelle anonyme au rendez-vous qualifié, sans toucher au clavier.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20140" y="2286000"/>
            <a:ext cx="548640" cy="548640"/>
          </a:xfrm>
          <a:prstGeom prst="ellipse">
            <a:avLst/>
          </a:prstGeom>
          <a:solidFill>
            <a:srgbClr val="E8600A"/>
          </a:solidFill>
          <a:ln/>
        </p:spPr>
      </p:sp>
      <p:sp>
        <p:nvSpPr>
          <p:cNvPr id="6" name="Text 4"/>
          <p:cNvSpPr/>
          <p:nvPr/>
        </p:nvSpPr>
        <p:spPr>
          <a:xfrm>
            <a:off x="11201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 + BDNB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région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9172" y="2286000"/>
            <a:ext cx="548640" cy="548640"/>
          </a:xfrm>
          <a:prstGeom prst="ellipse">
            <a:avLst/>
          </a:prstGeom>
          <a:solidFill>
            <a:srgbClr val="E8600A"/>
          </a:solidFill>
          <a:ln/>
        </p:spPr>
      </p:sp>
      <p:sp>
        <p:nvSpPr>
          <p:cNvPr id="10" name="Text 8"/>
          <p:cNvSpPr/>
          <p:nvPr/>
        </p:nvSpPr>
        <p:spPr>
          <a:xfrm>
            <a:off x="251917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30552" y="29718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Imagerie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30552" y="33832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satellite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du bâtiment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18204" y="2286000"/>
            <a:ext cx="548640" cy="548640"/>
          </a:xfrm>
          <a:prstGeom prst="ellipse">
            <a:avLst/>
          </a:prstGeom>
          <a:solidFill>
            <a:srgbClr val="E8600A"/>
          </a:solidFill>
          <a:ln/>
        </p:spPr>
      </p:sp>
      <p:sp>
        <p:nvSpPr>
          <p:cNvPr id="14" name="Text 12"/>
          <p:cNvSpPr/>
          <p:nvPr/>
        </p:nvSpPr>
        <p:spPr>
          <a:xfrm>
            <a:off x="3918204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29584" y="29718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Géométrie solaire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9584" y="33832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Panneaux réels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production kWh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17236" y="2286000"/>
            <a:ext cx="548640" cy="548640"/>
          </a:xfrm>
          <a:prstGeom prst="ellipse">
            <a:avLst/>
          </a:prstGeom>
          <a:solidFill>
            <a:srgbClr val="E8600A"/>
          </a:solidFill>
          <a:ln/>
        </p:spPr>
      </p:sp>
      <p:sp>
        <p:nvSpPr>
          <p:cNvPr id="18" name="Text 16"/>
          <p:cNvSpPr/>
          <p:nvPr/>
        </p:nvSpPr>
        <p:spPr>
          <a:xfrm>
            <a:off x="531723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28616" y="29718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Décideur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28616" y="33832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Pappers + RBE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+ email vérifié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16268" y="2286000"/>
            <a:ext cx="548640" cy="548640"/>
          </a:xfrm>
          <a:prstGeom prst="ellipse">
            <a:avLst/>
          </a:prstGeom>
          <a:solidFill>
            <a:srgbClr val="E8600A"/>
          </a:solidFill>
          <a:ln/>
        </p:spPr>
      </p:sp>
      <p:sp>
        <p:nvSpPr>
          <p:cNvPr id="22" name="Text 20"/>
          <p:cNvSpPr/>
          <p:nvPr/>
        </p:nvSpPr>
        <p:spPr>
          <a:xfrm>
            <a:off x="671626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27648" y="29718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Vidéo IA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27648" y="33832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Survol drone Veo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panneaux incrustés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15300" y="2286000"/>
            <a:ext cx="548640" cy="548640"/>
          </a:xfrm>
          <a:prstGeom prst="ellipse">
            <a:avLst/>
          </a:prstGeom>
          <a:solidFill>
            <a:srgbClr val="E8600A"/>
          </a:solidFill>
          <a:ln/>
        </p:spPr>
      </p:sp>
      <p:sp>
        <p:nvSpPr>
          <p:cNvPr id="26" name="Text 24"/>
          <p:cNvSpPr/>
          <p:nvPr/>
        </p:nvSpPr>
        <p:spPr>
          <a:xfrm>
            <a:off x="81153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726680" y="29718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Micro-site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26680" y="33832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dédiée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prospect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514332" y="2286000"/>
            <a:ext cx="548640" cy="548640"/>
          </a:xfrm>
          <a:prstGeom prst="ellipse">
            <a:avLst/>
          </a:prstGeom>
          <a:solidFill>
            <a:srgbClr val="E8600A"/>
          </a:solidFill>
          <a:ln/>
        </p:spPr>
      </p:sp>
      <p:sp>
        <p:nvSpPr>
          <p:cNvPr id="30" name="Text 28"/>
          <p:cNvSpPr/>
          <p:nvPr/>
        </p:nvSpPr>
        <p:spPr>
          <a:xfrm>
            <a:off x="951433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125712" y="29718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Outreach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25712" y="33832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LinkedIn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+ courrier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913364" y="2286000"/>
            <a:ext cx="548640" cy="548640"/>
          </a:xfrm>
          <a:prstGeom prst="ellipse">
            <a:avLst/>
          </a:prstGeom>
          <a:solidFill>
            <a:srgbClr val="E8600A"/>
          </a:solidFill>
          <a:ln/>
        </p:spPr>
      </p:sp>
      <p:sp>
        <p:nvSpPr>
          <p:cNvPr id="34" name="Text 32"/>
          <p:cNvSpPr/>
          <p:nvPr/>
        </p:nvSpPr>
        <p:spPr>
          <a:xfrm>
            <a:off x="10913364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524744" y="29718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524744" y="33832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RDV Cal.com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votre agenda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463040" y="2560320"/>
            <a:ext cx="9235440" cy="0"/>
          </a:xfrm>
          <a:prstGeom prst="line">
            <a:avLst/>
          </a:prstGeom>
          <a:noFill/>
          <a:ln w="19050">
            <a:solidFill>
              <a:srgbClr val="E8600A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731520" y="5120640"/>
            <a:ext cx="10698480" cy="1005840"/>
          </a:xfrm>
          <a:prstGeom prst="rect">
            <a:avLst/>
          </a:prstGeom>
          <a:solidFill>
            <a:srgbClr val="1A2E3B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52578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Mise en place : 30 jours. Premier rendez-vous livré : en général sous 45 jours.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1520" y="56235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équipe commerciale + transfert de compétences inclus.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 Experts · ERE Solar Bot · 2026 confidentiel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CONCRET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entrepôt logistique de 8 000 m² en périphérie de Lyon.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 : SCI foncière — Exploitant : PME logistique 45 M€ CA — Surface toiture exploitable : 5 200 m²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26060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377440"/>
            <a:ext cx="2606040" cy="73152"/>
          </a:xfrm>
          <a:prstGeom prst="rect">
            <a:avLst/>
          </a:prstGeom>
          <a:solidFill>
            <a:srgbClr val="1A2E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Puissance installable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0440" y="2377440"/>
            <a:ext cx="26060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2377440"/>
            <a:ext cx="2606040" cy="7315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697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6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525 000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03320" y="3429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kWh/an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03320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annuelle estimée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377440"/>
            <a:ext cx="26060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2377440"/>
            <a:ext cx="2606040" cy="73152"/>
          </a:xfrm>
          <a:prstGeom prst="rect">
            <a:avLst/>
          </a:prstGeom>
          <a:solidFill>
            <a:srgbClr val="1A2E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697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84 000 €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92240" y="3429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Économies + revente OA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98280" y="2377440"/>
            <a:ext cx="26060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98280" y="2377440"/>
            <a:ext cx="2606040" cy="7315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23" name="Text 21"/>
          <p:cNvSpPr/>
          <p:nvPr/>
        </p:nvSpPr>
        <p:spPr>
          <a:xfrm>
            <a:off x="9281160" y="2697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6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145 000 €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281160" y="3429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81160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Aides cumulées activables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solidFill>
            <a:srgbClr val="1A2E3B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5029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Taille moyenne de projet : ~ 500 000 €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53949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d'acquisition de ce prospect via ERE Solar Bot : 2,60 € · Marge installateur sur deal signé : 15–20 %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58064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théorique sur conversion : × 30 000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 Experts · ERE Solar Bot · 2026 confidentiel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MÉTRIQUES QUI COMPTENT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notre pipeline pilote chez BATILIAN produit, mois après mois.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projetées sur la base du pilote interne BATILIAN et de la méthodologie éprouvée du pipeline original (marché US).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73152" cy="18288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774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2,60 €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005840" y="33375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par prospect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traité bout en bout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73152" cy="18288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3774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709160" y="33375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d'ouverture email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15 % moyenne B2B France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377440"/>
            <a:ext cx="73152" cy="18288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3774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5,5 %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412480" y="33375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réponse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1–2 % moyenne marché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73152" cy="18288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389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2 %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1005840" y="5349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conversion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→ RDV qualifié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4389120"/>
            <a:ext cx="73152" cy="18288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4389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j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4709160" y="5349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mise en 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opérationnel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4389120"/>
            <a:ext cx="73152" cy="18288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4389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0 €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8412480" y="5349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 infra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(SaaS ERE Experts)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 Experts · ERE Solar Bot · 2026 confidentiel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ERE EXPERTS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cabinet d'architectes qui connaît votre métier de l'intérieur.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029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94560"/>
            <a:ext cx="73152" cy="393192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 [NOM]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Architecte DESA + fondateur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338328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Spéciale d'Architecture de Paris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Dirigeant BATILIAN (rénovation énergétique IDF + 200 km)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Dirigeant ERE Experts (conseil bâtiment &amp; performance)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 FFB, CAPEB, AT2EU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ans d'expérience rénovation énergétique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Centaines de familles accompagnées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194560"/>
            <a:ext cx="457200" cy="457200"/>
          </a:xfrm>
          <a:prstGeom prst="ellipse">
            <a:avLst/>
          </a:prstGeom>
          <a:solidFill>
            <a:srgbClr val="E8600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66560" y="2194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Nous l'utilisons nous-mêmes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2606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BATILIAN est notre client zéro. Chaque feature est battle-testée sur notre propre CA avant d'être déployée chez vous.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520440"/>
            <a:ext cx="457200" cy="457200"/>
          </a:xfrm>
          <a:prstGeom prst="ellipse">
            <a:avLst/>
          </a:prstGeom>
          <a:solidFill>
            <a:srgbClr val="E8600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66560" y="3520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Nous parlons votre langage technique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66560" y="39319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Décret tertiaire, loi APER, CEE fiches IND-UT, tarifs OA, suramortissement 39 decies : pas besoin de traduire.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4846320"/>
            <a:ext cx="457200" cy="457200"/>
          </a:xfrm>
          <a:prstGeom prst="ellipse">
            <a:avLst/>
          </a:prstGeom>
          <a:solidFill>
            <a:srgbClr val="E8600A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66560" y="4846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Nous sommes vos pairs, pas des commerciaux IT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0" y="5257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 FFB, CAPEB, AT2EU. Nous comprenons la réalité d'un chantier, les délais EDF OA, les audits Qualibat.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 Experts · ERE Solar Bot · 2026 confidentiel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modèle transparent, aligné sur vos résultats.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5204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377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3 000 – 8 000 €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 · paiement unique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3794760"/>
            <a:ext cx="2971800" cy="0"/>
          </a:xfrm>
          <a:prstGeom prst="line">
            <a:avLst/>
          </a:prstGeom>
          <a:noFill/>
          <a:ln w="6350">
            <a:solidFill>
              <a:srgbClr val="E5E0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9776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besoins commerciaux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 persona + copy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connaissance région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équipe (2 sessions)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2103120"/>
            <a:ext cx="3520440" cy="4206240"/>
          </a:xfrm>
          <a:prstGeom prst="rect">
            <a:avLst/>
          </a:prstGeom>
          <a:solidFill>
            <a:srgbClr val="1A2E3B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286000"/>
            <a:ext cx="1280160" cy="27432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2377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 – 1 500 €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0" y="3383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 / mois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794760"/>
            <a:ext cx="2971800" cy="0"/>
          </a:xfrm>
          <a:prstGeom prst="line">
            <a:avLst/>
          </a:prstGeom>
          <a:noFill/>
          <a:ln w="635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9776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plateforme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+ infra incluse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Mises à jour réglementaires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mail + téléphone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temps réel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2103120"/>
            <a:ext cx="35204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0" y="2377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– 10 %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12480" y="3383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 · optionnel, sur CA signé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12480" y="3794760"/>
            <a:ext cx="2971800" cy="0"/>
          </a:xfrm>
          <a:prstGeom prst="line">
            <a:avLst/>
          </a:prstGeom>
          <a:noFill/>
          <a:ln w="6350">
            <a:solidFill>
              <a:srgbClr val="E5E0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39776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total des intérêts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transparent partagé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Déclenché sur RDV converti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Plafonné par deal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0F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Résiliable à tout moment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installateur par région protégée · engagement 12 mois · sortie sans pénalité au-delà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 Experts · ERE Solar Bot · 2026 confidentiel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démo live de 30 minutes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 votre marché cible.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Nous sourçons 20 bâtiments réels de votre zone, nous enrichissons, nous générons une séquence d'exemple. Vous décidez ensuite si vous voulez aller plus loin.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solidFill>
            <a:srgbClr val="1A2E3B"/>
          </a:solidFill>
          <a:ln w="19050">
            <a:solidFill>
              <a:srgbClr val="E86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Mehdi [NOM] · ERE Experts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[téléphone direct]   ·   [email]   ·   ere-experts.fr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Réservez directement : cal.com/ere-experts/demo-solar-bot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ERE Solar Bot — Présentation commerciale</dc:title>
  <dc:subject>PptxGenJS Presentation</dc:subject>
  <dc:creator>ERE Experts</dc:creator>
  <cp:lastModifiedBy>ERE Experts</cp:lastModifiedBy>
  <cp:revision>1</cp:revision>
  <dcterms:created xsi:type="dcterms:W3CDTF">2026-04-12T16:55:53Z</dcterms:created>
  <dcterms:modified xsi:type="dcterms:W3CDTF">2026-04-12T16:55:53Z</dcterms:modified>
</cp:coreProperties>
</file>